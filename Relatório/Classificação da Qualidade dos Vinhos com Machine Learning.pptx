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9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9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1950839"/>
            <a:ext cx="34480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322" y="4564260"/>
            <a:ext cx="9035355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302" y="2427089"/>
            <a:ext cx="11161395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6B1D2F"/>
                </a:solidFill>
                <a:latin typeface="Poppins"/>
              </a:rPr>
              <a:t>Classificação da Qualidade dos Vinhos com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3630810"/>
            <a:ext cx="8191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Uma abordagem preditiva baseada em parâmetros físico-químicos objetivos para prever a qualidade sensorial do Vinho Verde tinto.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2750" y="4745235"/>
            <a:ext cx="4933950" cy="161925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Alessandra Ramos | Beatriz Pizani | Fabio Kato | Pamela Coelho | Vinícius Costa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5300" y="4745235"/>
            <a:ext cx="1123950" cy="1619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Lato"/>
              </a:rPr>
              <a:t>Agosto de 2026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4764285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4764285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535435"/>
            <a:ext cx="3581400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535435"/>
            <a:ext cx="3581400" cy="2495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535435"/>
            <a:ext cx="3581400" cy="2495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792610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440310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O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382131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A validação da qualidade do Vinho Verde tinto depende de painéis humanos subjetivos, limitando a escalabilidade e gerando variabilidade nos lotes comerciais.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475" y="2792610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2475" y="3440310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A Solução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475" y="382131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Desenvolvimento de um modelo preditivo baseado em dados físico-químicos objetivos para automatizar a classificação sensorial de forma reprodutível.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475" y="2792610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2475" y="3440310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O Impacto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821310"/>
            <a:ext cx="30670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A identificação precoce de lotes de alta qualidade permite precificação diferenciada e possibilita um controle de qualidade preventivo na produção.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916435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962" y="2916435"/>
            <a:ext cx="3143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300" y="2916435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Introdução: Qualidade em Escala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549723"/>
            <a:ext cx="5467350" cy="2466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549723"/>
            <a:ext cx="5467350" cy="2466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175" y="2806898"/>
            <a:ext cx="492061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Estrutura &amp; Higienização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5" y="3187898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• Base Única: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1.018 amostras de vinho verde tinto após a remoção de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125 registros duplicados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para evitar vazamento de dados.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2475" y="371177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• Variáveis: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11 preditoras químicas divididas em acidez, compostos, conservantes e propriedades físicas.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4235648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• Desbalanceamento Crítico: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Apenas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13,46%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pertencem à classe de Alta Qualidade (notas ≥ 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806898"/>
            <a:ext cx="490061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Diagnósticos &amp; Correlações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187898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• Presença de Outliers: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Discrepâncias severas em $SO_2$ total (máx. 289 vs média 46) e cloretos (máx. 0,61 vs média 0,09).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71177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• Maior Fator Positivo: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Teor alcoólico com correlação direta de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+0,49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com a qualidade.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235648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• Maior Fator Depreciativo: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Acidez volátil com correlação de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-0,41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(associação ao gosto acético/vinagre).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854523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854523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Análise Exploratória do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659510"/>
            <a:ext cx="11201400" cy="728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178248"/>
            <a:ext cx="3581400" cy="2290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2178248"/>
            <a:ext cx="3581400" cy="22907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2178248"/>
            <a:ext cx="3581400" cy="22907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4916685"/>
            <a:ext cx="10687050" cy="214312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B1D2F"/>
                </a:solidFill>
                <a:latin typeface="Lato SemiBold"/>
              </a:rPr>
              <a:t>A amostragem tratada resultou em 814 amostras de treino e 204 amostras de teste estatisticamente balanceadas.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8350" y="2435423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0901" y="3083123"/>
            <a:ext cx="157019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6B1D2F"/>
                </a:solidFill>
                <a:latin typeface="Poppins"/>
              </a:rPr>
              <a:t>1. RobustScaler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464123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Escalonamento via mediana e IQR, preservando a informação dos outliers de cloretos e $SO_2$ sem distorcer as escalas.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8350" y="2435423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65908" y="3083123"/>
            <a:ext cx="146018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6B1D2F"/>
                </a:solidFill>
                <a:latin typeface="Poppins"/>
              </a:rPr>
              <a:t>2. Binarização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475" y="3464123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Quality ≥ 7 convertida em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Classe 1 (13,46%)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e Quality &lt; 7 em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Classe 0 (86,54%)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para decisão de negócio.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8350" y="2435423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0869" y="3083123"/>
            <a:ext cx="209026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6B1D2F"/>
                </a:solidFill>
                <a:latin typeface="Poppins"/>
              </a:rPr>
              <a:t>3. Split Estratificado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2475" y="3464123"/>
            <a:ext cx="3067050" cy="652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Divisão 80/20 com 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stratify=y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, garantindo a exata proporção da classe rara nos conjuntos de treino e teste.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6475" y="4954785"/>
            <a:ext cx="1428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2175" y="2559248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6462" y="2559248"/>
            <a:ext cx="21907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67887" y="2559248"/>
            <a:ext cx="276225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Arquitetura de Pré-Processamento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485679"/>
            <a:ext cx="11201400" cy="942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137767"/>
            <a:ext cx="3581400" cy="2157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2137767"/>
            <a:ext cx="3581400" cy="2157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2137767"/>
            <a:ext cx="3581400" cy="21574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050" y="4742854"/>
            <a:ext cx="106584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Foco Analítico: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Priorizamos o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Recall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e o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F1-Score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da Classe Premium. Em dados desbalanceados, a acurácia global é uma métrica de vaidade; o valor real reside em detectar a excelência.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2394942"/>
            <a:ext cx="292036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Lineares &amp; Margens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2775942"/>
            <a:ext cx="30670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Regressão Logística &amp; SVC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3085504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Avaliados para mapear fronteiras de decisão lineares e de margem máxima com suporte a pesos balanceados.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800" y="2394942"/>
            <a:ext cx="289036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Árvores &amp; Ensembles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475" y="2775942"/>
            <a:ext cx="30670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Decision Tree, Random Forest, Gradient Boosting e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475" y="3299817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Modelos projetados para capturar interações químicas complexas e não-lineares entre os atributos.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94942"/>
            <a:ext cx="2890361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Probabilísticos &amp; Vizinhos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475" y="2775942"/>
            <a:ext cx="30670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475569"/>
                </a:solidFill>
                <a:latin typeface="Lato"/>
              </a:rPr>
              <a:t>Gaussian Naive Bayes &amp; KNN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2475" y="3085504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Abordagens baseadas em densidade de probabilidade e proximidade no espaço de características.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442567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2475" y="2442567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2442567"/>
            <a:ext cx="2190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Espectro de Algoritmos Testados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52029"/>
            <a:ext cx="11201400" cy="366236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4825" y="1961554"/>
          <a:ext cx="11182347" cy="364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56557"/>
                <a:gridCol w="1066055"/>
                <a:gridCol w="1865560"/>
                <a:gridCol w="1645443"/>
                <a:gridCol w="4148732"/>
              </a:tblGrid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Lato SemiBold"/>
                        </a:rPr>
                        <a:t>Modelo Avaliado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Lato SemiBold"/>
                        </a:rPr>
                        <a:t>Acurácia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Lato SemiBold"/>
                        </a:rPr>
                        <a:t>F1-Score (Classe 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Lato SemiBold"/>
                        </a:rPr>
                        <a:t>Recall (Classe 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Lato SemiBold"/>
                        </a:rPr>
                        <a:t>Diagnóstico Operacional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B1D2F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B1D2F"/>
                          </a:solidFill>
                          <a:latin typeface="Lato"/>
                        </a:rPr>
                        <a:t>Random Forest (Balanced)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B1D2F"/>
                          </a:solidFill>
                          <a:latin typeface="Lato"/>
                        </a:rPr>
                        <a:t>87,75%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B1D2F"/>
                          </a:solidFill>
                          <a:latin typeface="Lato"/>
                        </a:rPr>
                        <a:t>0,49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B1D2F"/>
                          </a:solidFill>
                          <a:latin typeface="Lato"/>
                        </a:rPr>
                        <a:t>44%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B1D2F"/>
                          </a:solidFill>
                          <a:latin typeface="Lato"/>
                        </a:rPr>
                        <a:t>Campeão: Melhor equilíbrio e menor risco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A059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Gaussian Naive Bayes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70,10%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70%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Alta sensibilidade, mas muitos Falsos Positivos (57)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SVC (Scaled / Balanced)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81,86%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0,51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56%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Bom equilíbrio, porém com queda na acurácia global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Gradient Boosting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87,75%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0,42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33%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Sinais claros de overfitting (97% no treino)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Decision Tree (max_depth=5)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88,24%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30%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Conservador; ignora a maioria dos vinhos Premium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Regressão Logística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78,92%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52%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Limitado por não capturar relações não-lineares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XGBoost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87,25%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0,38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30%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F1-Score e Recall inferiores ao Random Forest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481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KNN (k=26)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89,22%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0,39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26%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Lato"/>
                        </a:rPr>
                        <a:t>Métrica de vaidade: acurácia alta e recall baixíssimo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B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4825" y="279022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61382" y="279022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7437" y="279022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2998" y="279022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38442" y="279022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825" y="319027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61382" y="319027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7437" y="319027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2998" y="319027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38442" y="319027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4825" y="359032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61382" y="359032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7437" y="359032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2998" y="359032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8442" y="359032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825" y="399037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61382" y="399037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7437" y="399037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2998" y="399037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38442" y="399037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825" y="439042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61382" y="439042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27437" y="439042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2998" y="439042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38442" y="439042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825" y="479047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61382" y="479047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27437" y="479047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2998" y="479047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38442" y="479047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825" y="519052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61382" y="519052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27437" y="519052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2998" y="519052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38442" y="519052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4825" y="5590579"/>
            <a:ext cx="245655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61382" y="5590579"/>
            <a:ext cx="106605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7437" y="5590579"/>
            <a:ext cx="186556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92998" y="5590579"/>
            <a:ext cx="164544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38442" y="5590579"/>
            <a:ext cx="414873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Comparativo de Performance dos Modelos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973460"/>
            <a:ext cx="546735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1973460"/>
            <a:ext cx="516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Configuração Robusta: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100 estimadores com votação majoritária e 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class_weight='balanced'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, ajustando o aprendizado à classe rara.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564010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Métricas Operacionais: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Acurácia de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87,75%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, F1-Score de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0,49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, Precisão de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55%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e Recall de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44%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na base de teste.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145035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Baixo Risco Comercial: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Apenas </a:t>
            </a:r>
            <a:r>
              <a:rPr b="1" sz="1125" i="0" u="none">
                <a:solidFill>
                  <a:srgbClr val="334155"/>
                </a:solidFill>
                <a:latin typeface="Lato"/>
              </a:rPr>
              <a:t>10 Falsos Positivos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em 204 amostras, evitando rotular vinhos comuns como Premium e protegendo a marca.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726060"/>
            <a:ext cx="51625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Proteção contra Overfitting: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A amostragem aleatória (bagging) oferece estabilidade superior em comparação ao Gradient Boosting (gap de 9,3 pp entre treino e teste).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982985"/>
            <a:ext cx="544830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997273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2587823"/>
            <a:ext cx="1905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168848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749873"/>
            <a:ext cx="15240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Random Forest: O Modelo Recomendado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02085"/>
            <a:ext cx="5467350" cy="2609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9175" y="2659260"/>
            <a:ext cx="492061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Variáveis Mais Decisivas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4150" y="2402085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Teor Alcoólico (&gt; 11,5%):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Principal divisor de águas. Confere corpo e equilíbrio. Vinhos comuns têm mediana abaixo de 10,2%.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2983110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Sulfatos: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Atuam como antioxidantes cruciais. Sua calibração exata preserva o frescor do vinho tinto.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564135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Lato"/>
              </a:rPr>
              <a:t>Acidez Volátil (&lt; 0,55):</a:t>
            </a:r>
            <a:r>
              <a:rPr b="0" sz="1125" i="0" u="none">
                <a:solidFill>
                  <a:srgbClr val="334155"/>
                </a:solidFill>
                <a:latin typeface="Lato"/>
              </a:rPr>
              <a:t> Teto rígido para vinhos finos. Níveis elevados remetem ao vinagre e depreciam o produto.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70688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2425898"/>
            <a:ext cx="1047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3006923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3587948"/>
            <a:ext cx="17145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Determinantes de Qualidade Química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642592"/>
            <a:ext cx="3581400" cy="2281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642592"/>
            <a:ext cx="3581400" cy="2281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2642592"/>
            <a:ext cx="3581400" cy="2281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899767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3547467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Controle de Acidez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3928467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Monitorar rigorosamente o teto de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0,55 de acidez volátil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na vinícola como barreira de entrada obrigatória para o selo Premium.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475" y="2899767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2475" y="3547467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Gestão do Álcool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475" y="3928467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Garantir metas de vinificação para atingir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teor alcoólico &gt; 11,5%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nos lotes destinados à linha de alta qualidade.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475" y="2899767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2475" y="3547467"/>
            <a:ext cx="322040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6B1D2F"/>
                </a:solidFill>
                <a:latin typeface="Poppins"/>
              </a:rPr>
              <a:t>Gatekeeper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928467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Implantar o modelo </a:t>
            </a:r>
            <a:r>
              <a:rPr b="1" sz="1125" i="0" u="none">
                <a:solidFill>
                  <a:srgbClr val="475569"/>
                </a:solidFill>
                <a:latin typeface="Lato"/>
              </a:rPr>
              <a:t>Random Forest</a:t>
            </a:r>
            <a:r>
              <a:rPr b="0" sz="1125" i="0" u="none">
                <a:solidFill>
                  <a:srgbClr val="475569"/>
                </a:solidFill>
                <a:latin typeface="Lato"/>
              </a:rPr>
              <a:t> na linha de envase como filtro automatizado preventivo antes da distribuição comercial.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3023592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3023592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300" y="3023592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5300" y="419100"/>
            <a:ext cx="11696700" cy="38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6B1D2F"/>
                </a:solidFill>
                <a:latin typeface="Poppins"/>
              </a:rPr>
              <a:t>Recomendações Estratégicas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300" y="880020"/>
            <a:ext cx="11201400" cy="19050"/>
          </a:xfrm>
          <a:prstGeom prst="rect">
            <a:avLst/>
          </a:prstGeom>
          <a:solidFill>
            <a:srgbClr val="6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4350"/>
            <a:ext cx="108204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175" y="2428875"/>
            <a:ext cx="6343650" cy="771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5290" y="914400"/>
            <a:ext cx="1136142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6B1D2F"/>
                </a:solidFill>
                <a:latin typeface="Poppins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1647825"/>
            <a:ext cx="7810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"Os dados são o novo vinho: quanto mais você entende a sua química, melhor consegue apreciar a sua qualidade."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6600" y="2609850"/>
            <a:ext cx="647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B1D2F"/>
                </a:solidFill>
                <a:latin typeface="Lato"/>
              </a:rPr>
              <a:t>Grupo 10: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